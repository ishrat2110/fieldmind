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</p:sldIdLst>
  <p:sldSz cx="14630400" cy="8229600"/>
  <p:notesSz cx="8229600" cy="14630400"/>
  <p:embeddedFontLst>
    <p:embeddedFont>
      <p:font typeface="Cabin" pitchFamily="2" charset="77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Unbounded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45"/>
    <p:restoredTop sz="89726"/>
  </p:normalViewPr>
  <p:slideViewPr>
    <p:cSldViewPr snapToGrid="0" snapToObjects="1">
      <p:cViewPr varScale="1">
        <p:scale>
          <a:sx n="91" d="100"/>
          <a:sy n="91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61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21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FieldMind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81062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AI-Powered Research Farm Manager</a:t>
            </a:r>
            <a:endParaRPr lang="en-US" sz="6150" dirty="0"/>
          </a:p>
        </p:txBody>
      </p:sp>
      <p:sp>
        <p:nvSpPr>
          <p:cNvPr id="5" name="Shape 2"/>
          <p:cNvSpPr/>
          <p:nvPr/>
        </p:nvSpPr>
        <p:spPr>
          <a:xfrm>
            <a:off x="6280190" y="6055876"/>
            <a:ext cx="1465064" cy="441484"/>
          </a:xfrm>
          <a:prstGeom prst="roundRect">
            <a:avLst>
              <a:gd name="adj" fmla="val 61654"/>
            </a:avLst>
          </a:prstGeom>
          <a:noFill/>
          <a:ln w="762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23898" y="6131481"/>
            <a:ext cx="117764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6747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ISHRAT JANDU</a:t>
            </a:r>
            <a:endParaRPr lang="en-US" sz="1400" dirty="0"/>
          </a:p>
        </p:txBody>
      </p:sp>
      <p:pic>
        <p:nvPicPr>
          <p:cNvPr id="7" name="Picture 6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0F9E309B-0C55-1024-8C2E-DC1DD283F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4108" y="6962075"/>
            <a:ext cx="18288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CBEE1ACE-3D45-D502-EF85-B79646571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041436"/>
            <a:ext cx="1828800" cy="11557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776" y="610314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Research Farms Run Experiments, Not Crops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05776" y="2174319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Sixteen plots. Eight varieties. Forty treatments. One storage shed. Three systemic failures.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05776" y="2697361"/>
            <a:ext cx="7705249" cy="1516499"/>
          </a:xfrm>
          <a:prstGeom prst="roundRect">
            <a:avLst>
              <a:gd name="adj" fmla="val 7236"/>
            </a:avLst>
          </a:prstGeom>
          <a:solidFill>
            <a:srgbClr val="E5F9F2"/>
          </a:solidFill>
          <a:ln w="22860">
            <a:solidFill>
              <a:srgbClr val="B7D5CA"/>
            </a:solidFill>
            <a:prstDash val="solid"/>
          </a:ln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82916" y="2697361"/>
            <a:ext cx="91440" cy="1516499"/>
          </a:xfrm>
          <a:prstGeom prst="roundRect">
            <a:avLst>
              <a:gd name="adj" fmla="val 337209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02718" y="2925723"/>
            <a:ext cx="409027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C97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Stockouts Kill Experiments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02718" y="3358515"/>
            <a:ext cx="717994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Running out of fertilizer the day before an application compromises an entire replicate and the data is lost.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5776" y="4400074"/>
            <a:ext cx="7705249" cy="1516499"/>
          </a:xfrm>
          <a:prstGeom prst="roundRect">
            <a:avLst>
              <a:gd name="adj" fmla="val 7236"/>
            </a:avLst>
          </a:prstGeom>
          <a:solidFill>
            <a:srgbClr val="E5F9F2"/>
          </a:solidFill>
          <a:ln w="22860">
            <a:solidFill>
              <a:srgbClr val="B7D5CA"/>
            </a:solidFill>
            <a:prstDash val="solid"/>
          </a:ln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82916" y="4400074"/>
            <a:ext cx="91440" cy="1516499"/>
          </a:xfrm>
          <a:prstGeom prst="roundRect">
            <a:avLst>
              <a:gd name="adj" fmla="val 337209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02718" y="4628436"/>
            <a:ext cx="5661660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C97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Manual Estimation Is Bad Estimation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02718" y="5061228"/>
            <a:ext cx="717994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Humans guess burn rates. Over a season, that's thousands of dollars wasted and irrecoverable data gaps.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5776" y="6102787"/>
            <a:ext cx="7705249" cy="1516499"/>
          </a:xfrm>
          <a:prstGeom prst="roundRect">
            <a:avLst>
              <a:gd name="adj" fmla="val 7236"/>
            </a:avLst>
          </a:prstGeom>
          <a:solidFill>
            <a:srgbClr val="E5F9F2"/>
          </a:solidFill>
          <a:ln w="22860">
            <a:solidFill>
              <a:srgbClr val="B7D5CA"/>
            </a:solidFill>
            <a:prstDash val="solid"/>
          </a:ln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82916" y="6102787"/>
            <a:ext cx="91440" cy="1516499"/>
          </a:xfrm>
          <a:prstGeom prst="roundRect">
            <a:avLst>
              <a:gd name="adj" fmla="val 337209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02718" y="6331148"/>
            <a:ext cx="485072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C97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Institutional Memory Walks Out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02718" y="6763941"/>
            <a:ext cx="717994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When a grad student graduates, their tracking system and all its tacit knowledge away goes with them.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311"/>
            <a:ext cx="69948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87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full-stack web application with an AI agent at its core purpose-built for research farm operations.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96772"/>
            <a:ext cx="13042821" cy="2616518"/>
          </a:xfrm>
          <a:prstGeom prst="roundRect">
            <a:avLst>
              <a:gd name="adj" fmla="val 1300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70439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343" y="3848100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Frontend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898106" y="3848100"/>
            <a:ext cx="9704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Jinja templates · Tailwind CSS · Vanilla JS · Plotly charts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35471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343" y="4498419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Backend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898106" y="4498419"/>
            <a:ext cx="9704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 routes · SQLAlchemy ORM · Role-based auth · CSRF protection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500503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8343" y="5148739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Layer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898106" y="5148739"/>
            <a:ext cx="9704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Google Gemini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65535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8343" y="5799058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898106" y="5799058"/>
            <a:ext cx="9704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SQLite · 13 tables — users, plots, varieties, treatments, logs</a:t>
            </a:r>
            <a:endParaRPr lang="en-US" sz="1750" dirty="0"/>
          </a:p>
        </p:txBody>
      </p:sp>
      <p:pic>
        <p:nvPicPr>
          <p:cNvPr id="17" name="Picture 16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4869A975-C486-2B6B-5F58-3B8B16B97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073900"/>
            <a:ext cx="18288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0E5346BA-C155-2C70-5B2D-8F2C89EA4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054691"/>
            <a:ext cx="1828800" cy="11557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758" y="702945"/>
            <a:ext cx="5445919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Agentic AI Design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741884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five-step closed loop with tools, memory, and guardrails </a:t>
            </a:r>
            <a:r>
              <a:rPr lang="en-US" sz="1600" b="1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LLM for nuance, rules for safety.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758" y="2593658"/>
            <a:ext cx="4260413" cy="1839516"/>
          </a:xfrm>
          <a:prstGeom prst="roundRect">
            <a:avLst>
              <a:gd name="adj" fmla="val 5965"/>
            </a:avLst>
          </a:prstGeom>
          <a:solidFill>
            <a:srgbClr val="E5F9F2"/>
          </a:solidFill>
          <a:ln/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758" y="2570798"/>
            <a:ext cx="4260413" cy="91440"/>
          </a:xfrm>
          <a:prstGeom prst="roundRect">
            <a:avLst>
              <a:gd name="adj" fmla="val 34302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48295" y="2280047"/>
            <a:ext cx="627221" cy="627221"/>
          </a:xfrm>
          <a:prstGeom prst="roundRect">
            <a:avLst>
              <a:gd name="adj" fmla="val 14578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36413" y="2436852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3692" y="311634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Observe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963692" y="3558540"/>
            <a:ext cx="379654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Stock levels, 30-day usage, scheduled treatments, equipment burn rates.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4934" y="2593658"/>
            <a:ext cx="4260413" cy="1839516"/>
          </a:xfrm>
          <a:prstGeom prst="roundRect">
            <a:avLst>
              <a:gd name="adj" fmla="val 5965"/>
            </a:avLst>
          </a:prstGeom>
          <a:solidFill>
            <a:srgbClr val="E5F9F2"/>
          </a:solidFill>
          <a:ln/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84934" y="2570798"/>
            <a:ext cx="4260413" cy="91440"/>
          </a:xfrm>
          <a:prstGeom prst="roundRect">
            <a:avLst>
              <a:gd name="adj" fmla="val 34302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01470" y="2280047"/>
            <a:ext cx="627221" cy="627221"/>
          </a:xfrm>
          <a:prstGeom prst="roundRect">
            <a:avLst>
              <a:gd name="adj" fmla="val 14578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89589" y="2436852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16868" y="311634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Reason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5416868" y="3558540"/>
            <a:ext cx="379654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Gemini predicts rates, stockouts, confidence, severity, and quantity.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38109" y="2593658"/>
            <a:ext cx="4260413" cy="1839516"/>
          </a:xfrm>
          <a:prstGeom prst="roundRect">
            <a:avLst>
              <a:gd name="adj" fmla="val 5965"/>
            </a:avLst>
          </a:prstGeom>
          <a:solidFill>
            <a:srgbClr val="E5F9F2"/>
          </a:solidFill>
          <a:ln/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38109" y="2570798"/>
            <a:ext cx="4260413" cy="91440"/>
          </a:xfrm>
          <a:prstGeom prst="roundRect">
            <a:avLst>
              <a:gd name="adj" fmla="val 34302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54646" y="2280047"/>
            <a:ext cx="627221" cy="627221"/>
          </a:xfrm>
          <a:prstGeom prst="roundRect">
            <a:avLst>
              <a:gd name="adj" fmla="val 14578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642765" y="2436852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70043" y="311634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Act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9870043" y="3558540"/>
            <a:ext cx="379654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Writes notification and displays on website interface.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758" y="4939546"/>
            <a:ext cx="6487001" cy="1518166"/>
          </a:xfrm>
          <a:prstGeom prst="roundRect">
            <a:avLst>
              <a:gd name="adj" fmla="val 7228"/>
            </a:avLst>
          </a:prstGeom>
          <a:solidFill>
            <a:srgbClr val="E5F9F2"/>
          </a:solidFill>
          <a:ln/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758" y="4916686"/>
            <a:ext cx="6487001" cy="91440"/>
          </a:xfrm>
          <a:prstGeom prst="roundRect">
            <a:avLst>
              <a:gd name="adj" fmla="val 34302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61648" y="4625935"/>
            <a:ext cx="627221" cy="627221"/>
          </a:xfrm>
          <a:prstGeom prst="roundRect">
            <a:avLst>
              <a:gd name="adj" fmla="val 14578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9767" y="4782741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3692" y="546223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Approve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963692" y="5904428"/>
            <a:ext cx="602313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Human manager approves, dismisses, or corrects every suggestion.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11522" y="4939546"/>
            <a:ext cx="6487001" cy="1518166"/>
          </a:xfrm>
          <a:prstGeom prst="roundRect">
            <a:avLst>
              <a:gd name="adj" fmla="val 7228"/>
            </a:avLst>
          </a:prstGeom>
          <a:solidFill>
            <a:srgbClr val="E5F9F2"/>
          </a:solidFill>
          <a:ln/>
          <a:effectLst>
            <a:outerShdw dist="2667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11522" y="4916686"/>
            <a:ext cx="6487001" cy="91440"/>
          </a:xfrm>
          <a:prstGeom prst="roundRect">
            <a:avLst>
              <a:gd name="adj" fmla="val 34302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341412" y="4625935"/>
            <a:ext cx="627221" cy="627221"/>
          </a:xfrm>
          <a:prstGeom prst="roundRect">
            <a:avLst>
              <a:gd name="adj" fmla="val 14578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529530" y="4782741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643455" y="546223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Learn</a:t>
            </a:r>
            <a:endParaRPr lang="en-US" sz="2050" dirty="0"/>
          </a:p>
        </p:txBody>
      </p:sp>
      <p:sp>
        <p:nvSpPr>
          <p:cNvPr id="33" name="Text 31"/>
          <p:cNvSpPr/>
          <p:nvPr/>
        </p:nvSpPr>
        <p:spPr>
          <a:xfrm>
            <a:off x="7643455" y="5904428"/>
            <a:ext cx="602313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Corrections persisted and injected into the next prompt cycle.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EB2CFEA4-E15D-6C44-9F37-E39D83F87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073900"/>
            <a:ext cx="1828800" cy="11557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761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0009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What FieldMind looks like in practice  four core interfaces.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789307" y="6817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Farm Map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789307" y="730779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Block A corn, Block B soybean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Treatment progress overlaid.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682480" y="6817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 Usage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682480" y="730779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Single-page entry with inventory, plot, and equipment selectors.</a:t>
            </a:r>
            <a:endParaRPr lang="en-US" sz="1750" dirty="0"/>
          </a:p>
        </p:txBody>
      </p:sp>
      <p:pic>
        <p:nvPicPr>
          <p:cNvPr id="14" name="Picture 13" descr="A screenshot of a field layout&#10;&#10;AI-generated content may be incorrect.">
            <a:extLst>
              <a:ext uri="{FF2B5EF4-FFF2-40B4-BE49-F238E27FC236}">
                <a16:creationId xmlns:a16="http://schemas.microsoft.com/office/drawing/2014/main" id="{AC024938-75ED-E6DE-1C6B-C75602869C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34" t="4436" r="6355" b="8787"/>
          <a:stretch>
            <a:fillRect/>
          </a:stretch>
        </p:blipFill>
        <p:spPr>
          <a:xfrm>
            <a:off x="1505819" y="1695036"/>
            <a:ext cx="4523674" cy="4643437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E34638-8F49-8B4B-0E23-C9D44E54DB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09" t="21075" r="6905" b="4786"/>
          <a:stretch>
            <a:fillRect/>
          </a:stretch>
        </p:blipFill>
        <p:spPr>
          <a:xfrm>
            <a:off x="8682480" y="1000940"/>
            <a:ext cx="4523675" cy="5533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024" y="570368"/>
            <a:ext cx="76059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Makes FieldMind Different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9025" y="2327553"/>
            <a:ext cx="494348" cy="494348"/>
          </a:xfrm>
          <a:prstGeom prst="roundRect">
            <a:avLst>
              <a:gd name="adj" fmla="val 66676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794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51416" y="2368748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476137" y="240303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Hybrid AI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476137" y="2927151"/>
            <a:ext cx="6898838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Gemini reasons over messy farm data; </a:t>
            </a:r>
            <a:r>
              <a:rPr lang="en-US" sz="170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reorder_ai.py</a:t>
            </a:r>
            <a:r>
              <a:rPr lang="en-US" sz="17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provides a defensible deterministic fallback. Every suggestion carries a full audit trail.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69025" y="3999428"/>
            <a:ext cx="494348" cy="494348"/>
          </a:xfrm>
          <a:prstGeom prst="roundRect">
            <a:avLst>
              <a:gd name="adj" fmla="val 66676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794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1416" y="4040624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476137" y="407491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Correction Loop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476137" y="4545806"/>
            <a:ext cx="6898838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When a manager corrects a burn rate, that fact persists and shapes future predictions. A genuinely closed loop where most ag-tech tools stop at the suggestion.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69025" y="6009799"/>
            <a:ext cx="494348" cy="494348"/>
          </a:xfrm>
          <a:prstGeom prst="roundRect">
            <a:avLst>
              <a:gd name="adj" fmla="val 66676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794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1416" y="6050994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476137" y="608528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GIS-Aware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476137" y="6556177"/>
            <a:ext cx="6898838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Most farm software is row-based. FieldMind reads shapefiles, knows plot geometry, and computes treatment quantities from rate × actual polygon area — precision for replicated experiments.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6FEDC0E5-35C1-C87E-2595-1390E51A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002383"/>
            <a:ext cx="1828800" cy="11557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44260" y="649367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Responsible AI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712476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Specific commitments enforced in the schema — not aspirational, structural.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2266236"/>
            <a:ext cx="6471285" cy="2396371"/>
          </a:xfrm>
          <a:prstGeom prst="roundRect">
            <a:avLst>
              <a:gd name="adj" fmla="val 13311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794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4525" y="2486501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904" y="2661880"/>
            <a:ext cx="287060" cy="287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4525" y="3323749"/>
            <a:ext cx="302609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Human-in-the-Loop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64525" y="3775591"/>
            <a:ext cx="603075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Agent never auto-orders. Every draft requires explicit approve-or-dismiss. </a:t>
            </a:r>
            <a:r>
              <a:rPr lang="en-US" sz="165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draft_order_sent</a:t>
            </a:r>
            <a:r>
              <a:rPr lang="en-US" sz="16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defaults to </a:t>
            </a:r>
            <a:r>
              <a:rPr lang="en-US" sz="165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6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14855" y="2266236"/>
            <a:ext cx="6471285" cy="2396371"/>
          </a:xfrm>
          <a:prstGeom prst="roundRect">
            <a:avLst>
              <a:gd name="adj" fmla="val 13311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794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35121" y="2486501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0500" y="2661880"/>
            <a:ext cx="287060" cy="287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121" y="332374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Transparency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635121" y="3775591"/>
            <a:ext cx="60307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Every alert ships with a reasoning string and confidence score. Uncertain predictions say so explicitly.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44260" y="4861917"/>
            <a:ext cx="6471285" cy="2718316"/>
          </a:xfrm>
          <a:prstGeom prst="roundRect">
            <a:avLst>
              <a:gd name="adj" fmla="val 11734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794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4525" y="5082183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9904" y="5257562"/>
            <a:ext cx="287060" cy="287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4525" y="5919430"/>
            <a:ext cx="3149441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Bounded Autonomy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64525" y="6371273"/>
            <a:ext cx="60307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Order quantities hard-capped at 5× the configured reorder threshold. AI cannot run away with a bad prediction.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414855" y="4861917"/>
            <a:ext cx="6471285" cy="2718316"/>
          </a:xfrm>
          <a:prstGeom prst="roundRect">
            <a:avLst>
              <a:gd name="adj" fmla="val 11734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794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635121" y="5082183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10500" y="5257562"/>
            <a:ext cx="287060" cy="2870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121" y="5919430"/>
            <a:ext cx="2694742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Privacy &amp; Access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7635121" y="6371273"/>
            <a:ext cx="603075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Auth-gated to UNL email. Three roles: admin / manager / viewer. Activity logs on every state change. No personal data leaves the institution.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F69034B8-CF1B-5201-C91C-BADEE2988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0" y="7073900"/>
            <a:ext cx="1828800" cy="1155700"/>
          </a:xfrm>
          <a:prstGeom prst="rect">
            <a:avLst/>
          </a:prstGeom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ED4C1A7E-B88E-7565-7D96-51588C9E3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61" y="165027"/>
            <a:ext cx="12753078" cy="806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2214"/>
            <a:ext cx="70107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UX &amp; Documentation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846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for the field. Documented for the team.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3302675"/>
            <a:ext cx="6571417" cy="3404711"/>
          </a:xfrm>
          <a:prstGeom prst="roundRect">
            <a:avLst>
              <a:gd name="adj" fmla="val 15989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7250" y="35294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Usability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4110633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Big touch targets for field tablets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Single-page log entry with smart selectors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Inline sparkline trends not buried tables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Plain-English AI alerts on the dashboard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Tested with seeded planting-day data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294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Documentation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10633"/>
            <a:ext cx="6244709" cy="25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Structured README with architecture diagram and Mermaid flowcharts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Step-by-step fix logs under </a:t>
            </a:r>
            <a:r>
              <a:rPr lang="en-US" sz="175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Database schema reference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documenting design rules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suite for the reorder agent</a:t>
            </a:r>
            <a:endParaRPr lang="en-US" sz="1750" dirty="0"/>
          </a:p>
        </p:txBody>
      </p:sp>
      <p:pic>
        <p:nvPicPr>
          <p:cNvPr id="9" name="Picture 8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C7FCD75A-8C5C-DE92-BCF7-93D938CC0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073900"/>
            <a:ext cx="18288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866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674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FieldMind Closes the Gap Between the Spreadsheet and the Soil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93790" y="3900131"/>
            <a:ext cx="3664863" cy="2047994"/>
          </a:xfrm>
          <a:prstGeom prst="roundRect">
            <a:avLst>
              <a:gd name="adj" fmla="val 1661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921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28224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Presenter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4605219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Ishrat Jandu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UNL Biological Systems Engineering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78748"/>
            <a:ext cx="7556421" cy="1322189"/>
          </a:xfrm>
          <a:prstGeom prst="roundRect">
            <a:avLst>
              <a:gd name="adj" fmla="val 2573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  <a:effectLst>
            <a:outerShdw dist="29210" dir="2700000" algn="bl" rotWithShape="0">
              <a:srgbClr val="B7D5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8224" y="64131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4A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Github Repo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90360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github.com/Ishrat2110/fieldmind</a:t>
            </a:r>
            <a:endParaRPr lang="en-US" sz="1750" dirty="0"/>
          </a:p>
        </p:txBody>
      </p:sp>
      <p:pic>
        <p:nvPicPr>
          <p:cNvPr id="5" name="Picture 4" descr="A white and green background&#10;&#10;AI-generated content may be incorrect.">
            <a:extLst>
              <a:ext uri="{FF2B5EF4-FFF2-40B4-BE49-F238E27FC236}">
                <a16:creationId xmlns:a16="http://schemas.microsoft.com/office/drawing/2014/main" id="{F4718B1B-65D0-9621-3DF3-AD2CC0FDE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536950"/>
            <a:ext cx="1828800" cy="1155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597</Words>
  <Application>Microsoft Macintosh PowerPoint</Application>
  <PresentationFormat>Custom</PresentationFormat>
  <Paragraphs>94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Unbounded</vt:lpstr>
      <vt:lpstr>Consolas</vt:lpstr>
      <vt:lpstr>Arial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Ishrat Jandu</cp:lastModifiedBy>
  <cp:revision>9</cp:revision>
  <dcterms:created xsi:type="dcterms:W3CDTF">2026-04-27T15:17:44Z</dcterms:created>
  <dcterms:modified xsi:type="dcterms:W3CDTF">2026-05-06T02:52:43Z</dcterms:modified>
</cp:coreProperties>
</file>